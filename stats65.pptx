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9753600" cy="14630400"/>
  <p:notesSz cx="6858000" cy="9144000"/>
  <p:embeddedFontLst>
    <p:embeddedFont>
      <p:font typeface="Helvetica Neue W23 for SKY Bold" charset="1" panose="020B0804020202020204"/>
      <p:regular r:id="rId7"/>
    </p:embeddedFont>
    <p:embeddedFont>
      <p:font typeface="Helvetica Neue W23 for SKY" charset="1" panose="020B060402020202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jpe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jpe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26" Target="../media/image25.pn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31" Target="../media/image30.png" Type="http://schemas.openxmlformats.org/officeDocument/2006/relationships/image"/><Relationship Id="rId32" Target="../media/image31.png" Type="http://schemas.openxmlformats.org/officeDocument/2006/relationships/image"/><Relationship Id="rId33" Target="../media/image32.png" Type="http://schemas.openxmlformats.org/officeDocument/2006/relationships/image"/><Relationship Id="rId34" Target="../media/image33.png" Type="http://schemas.openxmlformats.org/officeDocument/2006/relationships/image"/><Relationship Id="rId35" Target="../media/image34.png" Type="http://schemas.openxmlformats.org/officeDocument/2006/relationships/image"/><Relationship Id="rId36" Target="../media/image35.png" Type="http://schemas.openxmlformats.org/officeDocument/2006/relationships/image"/><Relationship Id="rId37" Target="../media/image36.png" Type="http://schemas.openxmlformats.org/officeDocument/2006/relationships/image"/><Relationship Id="rId38" Target="../media/image37.png" Type="http://schemas.openxmlformats.org/officeDocument/2006/relationships/image"/><Relationship Id="rId39" Target="../media/image38.png" Type="http://schemas.openxmlformats.org/officeDocument/2006/relationships/image"/><Relationship Id="rId4" Target="../media/image3.png" Type="http://schemas.openxmlformats.org/officeDocument/2006/relationships/image"/><Relationship Id="rId40" Target="../media/image39.png" Type="http://schemas.openxmlformats.org/officeDocument/2006/relationships/image"/><Relationship Id="rId41" Target="../media/image40.png" Type="http://schemas.openxmlformats.org/officeDocument/2006/relationships/image"/><Relationship Id="rId42" Target="../media/image41.png" Type="http://schemas.openxmlformats.org/officeDocument/2006/relationships/image"/><Relationship Id="rId43" Target="../media/image42.png" Type="http://schemas.openxmlformats.org/officeDocument/2006/relationships/image"/><Relationship Id="rId44" Target="../media/image43.png" Type="http://schemas.openxmlformats.org/officeDocument/2006/relationships/image"/><Relationship Id="rId45" Target="../media/image44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14630400"/>
          </a:xfrm>
          <a:custGeom>
            <a:avLst/>
            <a:gdLst/>
            <a:ahLst/>
            <a:cxnLst/>
            <a:rect r="r" b="b" t="t" l="l"/>
            <a:pathLst>
              <a:path h="14630400" w="9753600">
                <a:moveTo>
                  <a:pt x="0" y="0"/>
                </a:moveTo>
                <a:lnTo>
                  <a:pt x="9753600" y="0"/>
                </a:lnTo>
                <a:lnTo>
                  <a:pt x="9753600" y="14630400"/>
                </a:lnTo>
                <a:lnTo>
                  <a:pt x="0" y="1463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7886700" cy="7867650"/>
          </a:xfrm>
          <a:custGeom>
            <a:avLst/>
            <a:gdLst/>
            <a:ahLst/>
            <a:cxnLst/>
            <a:rect r="r" b="b" t="t" l="l"/>
            <a:pathLst>
              <a:path h="7867650" w="7886700">
                <a:moveTo>
                  <a:pt x="0" y="0"/>
                </a:moveTo>
                <a:lnTo>
                  <a:pt x="7886700" y="0"/>
                </a:lnTo>
                <a:lnTo>
                  <a:pt x="7886700" y="7867650"/>
                </a:lnTo>
                <a:lnTo>
                  <a:pt x="0" y="7867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286125"/>
            <a:ext cx="5257800" cy="3667125"/>
          </a:xfrm>
          <a:custGeom>
            <a:avLst/>
            <a:gdLst/>
            <a:ahLst/>
            <a:cxnLst/>
            <a:rect r="r" b="b" t="t" l="l"/>
            <a:pathLst>
              <a:path h="3667125" w="5257800">
                <a:moveTo>
                  <a:pt x="0" y="0"/>
                </a:moveTo>
                <a:lnTo>
                  <a:pt x="5257800" y="0"/>
                </a:lnTo>
                <a:lnTo>
                  <a:pt x="5257800" y="3667125"/>
                </a:lnTo>
                <a:lnTo>
                  <a:pt x="0" y="3667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1475" y="7677150"/>
            <a:ext cx="2257425" cy="2019300"/>
          </a:xfrm>
          <a:custGeom>
            <a:avLst/>
            <a:gdLst/>
            <a:ahLst/>
            <a:cxnLst/>
            <a:rect r="r" b="b" t="t" l="l"/>
            <a:pathLst>
              <a:path h="2019300" w="2257425">
                <a:moveTo>
                  <a:pt x="0" y="0"/>
                </a:moveTo>
                <a:lnTo>
                  <a:pt x="2257425" y="0"/>
                </a:lnTo>
                <a:lnTo>
                  <a:pt x="2257425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3450" y="7858125"/>
            <a:ext cx="942975" cy="561975"/>
          </a:xfrm>
          <a:custGeom>
            <a:avLst/>
            <a:gdLst/>
            <a:ahLst/>
            <a:cxnLst/>
            <a:rect r="r" b="b" t="t" l="l"/>
            <a:pathLst>
              <a:path h="561975" w="942975">
                <a:moveTo>
                  <a:pt x="0" y="0"/>
                </a:moveTo>
                <a:lnTo>
                  <a:pt x="942975" y="0"/>
                </a:lnTo>
                <a:lnTo>
                  <a:pt x="94297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19375" y="7677150"/>
            <a:ext cx="2257425" cy="2019300"/>
          </a:xfrm>
          <a:custGeom>
            <a:avLst/>
            <a:gdLst/>
            <a:ahLst/>
            <a:cxnLst/>
            <a:rect r="r" b="b" t="t" l="l"/>
            <a:pathLst>
              <a:path h="2019300" w="2257425">
                <a:moveTo>
                  <a:pt x="0" y="0"/>
                </a:moveTo>
                <a:lnTo>
                  <a:pt x="2257425" y="0"/>
                </a:lnTo>
                <a:lnTo>
                  <a:pt x="2257425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71850" y="7858125"/>
            <a:ext cx="762000" cy="561975"/>
          </a:xfrm>
          <a:custGeom>
            <a:avLst/>
            <a:gdLst/>
            <a:ahLst/>
            <a:cxnLst/>
            <a:rect r="r" b="b" t="t" l="l"/>
            <a:pathLst>
              <a:path h="561975" w="762000">
                <a:moveTo>
                  <a:pt x="0" y="0"/>
                </a:moveTo>
                <a:lnTo>
                  <a:pt x="762000" y="0"/>
                </a:lnTo>
                <a:lnTo>
                  <a:pt x="76200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76800" y="7677150"/>
            <a:ext cx="2257425" cy="2019300"/>
          </a:xfrm>
          <a:custGeom>
            <a:avLst/>
            <a:gdLst/>
            <a:ahLst/>
            <a:cxnLst/>
            <a:rect r="r" b="b" t="t" l="l"/>
            <a:pathLst>
              <a:path h="2019300" w="2257425">
                <a:moveTo>
                  <a:pt x="0" y="0"/>
                </a:moveTo>
                <a:lnTo>
                  <a:pt x="2257425" y="0"/>
                </a:lnTo>
                <a:lnTo>
                  <a:pt x="2257425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619750" y="7858125"/>
            <a:ext cx="762000" cy="742950"/>
          </a:xfrm>
          <a:custGeom>
            <a:avLst/>
            <a:gdLst/>
            <a:ahLst/>
            <a:cxnLst/>
            <a:rect r="r" b="b" t="t" l="l"/>
            <a:pathLst>
              <a:path h="742950" w="762000">
                <a:moveTo>
                  <a:pt x="0" y="0"/>
                </a:moveTo>
                <a:lnTo>
                  <a:pt x="762000" y="0"/>
                </a:lnTo>
                <a:lnTo>
                  <a:pt x="7620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124700" y="7677150"/>
            <a:ext cx="2447925" cy="2019300"/>
          </a:xfrm>
          <a:custGeom>
            <a:avLst/>
            <a:gdLst/>
            <a:ahLst/>
            <a:cxnLst/>
            <a:rect r="r" b="b" t="t" l="l"/>
            <a:pathLst>
              <a:path h="2019300" w="2447925">
                <a:moveTo>
                  <a:pt x="0" y="0"/>
                </a:moveTo>
                <a:lnTo>
                  <a:pt x="2447925" y="0"/>
                </a:lnTo>
                <a:lnTo>
                  <a:pt x="2447925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58150" y="7858125"/>
            <a:ext cx="571500" cy="742950"/>
          </a:xfrm>
          <a:custGeom>
            <a:avLst/>
            <a:gdLst/>
            <a:ahLst/>
            <a:cxnLst/>
            <a:rect r="r" b="b" t="t" l="l"/>
            <a:pathLst>
              <a:path h="742950" w="571500">
                <a:moveTo>
                  <a:pt x="0" y="0"/>
                </a:moveTo>
                <a:lnTo>
                  <a:pt x="571500" y="0"/>
                </a:lnTo>
                <a:lnTo>
                  <a:pt x="5715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71475" y="9686925"/>
            <a:ext cx="2638425" cy="1838325"/>
          </a:xfrm>
          <a:custGeom>
            <a:avLst/>
            <a:gdLst/>
            <a:ahLst/>
            <a:cxnLst/>
            <a:rect r="r" b="b" t="t" l="l"/>
            <a:pathLst>
              <a:path h="1838325" w="2638425">
                <a:moveTo>
                  <a:pt x="0" y="0"/>
                </a:moveTo>
                <a:lnTo>
                  <a:pt x="2638425" y="0"/>
                </a:lnTo>
                <a:lnTo>
                  <a:pt x="2638425" y="1838325"/>
                </a:lnTo>
                <a:lnTo>
                  <a:pt x="0" y="1838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61975" y="9867900"/>
            <a:ext cx="571500" cy="742950"/>
          </a:xfrm>
          <a:custGeom>
            <a:avLst/>
            <a:gdLst/>
            <a:ahLst/>
            <a:cxnLst/>
            <a:rect r="r" b="b" t="t" l="l"/>
            <a:pathLst>
              <a:path h="742950" w="571500">
                <a:moveTo>
                  <a:pt x="0" y="0"/>
                </a:moveTo>
                <a:lnTo>
                  <a:pt x="571500" y="0"/>
                </a:lnTo>
                <a:lnTo>
                  <a:pt x="5715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809875" y="9686925"/>
            <a:ext cx="2257425" cy="1838325"/>
          </a:xfrm>
          <a:custGeom>
            <a:avLst/>
            <a:gdLst/>
            <a:ahLst/>
            <a:cxnLst/>
            <a:rect r="r" b="b" t="t" l="l"/>
            <a:pathLst>
              <a:path h="1838325" w="2257425">
                <a:moveTo>
                  <a:pt x="0" y="0"/>
                </a:moveTo>
                <a:lnTo>
                  <a:pt x="2257425" y="0"/>
                </a:lnTo>
                <a:lnTo>
                  <a:pt x="2257425" y="1838325"/>
                </a:lnTo>
                <a:lnTo>
                  <a:pt x="0" y="1838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181350" y="9686925"/>
            <a:ext cx="1514475" cy="561975"/>
          </a:xfrm>
          <a:custGeom>
            <a:avLst/>
            <a:gdLst/>
            <a:ahLst/>
            <a:cxnLst/>
            <a:rect r="r" b="b" t="t" l="l"/>
            <a:pathLst>
              <a:path h="561975" w="1514475">
                <a:moveTo>
                  <a:pt x="0" y="0"/>
                </a:moveTo>
                <a:lnTo>
                  <a:pt x="1514475" y="0"/>
                </a:lnTo>
                <a:lnTo>
                  <a:pt x="151447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352800" y="10258425"/>
            <a:ext cx="1133475" cy="1104900"/>
          </a:xfrm>
          <a:custGeom>
            <a:avLst/>
            <a:gdLst/>
            <a:ahLst/>
            <a:cxnLst/>
            <a:rect r="r" b="b" t="t" l="l"/>
            <a:pathLst>
              <a:path h="1104900" w="1133475">
                <a:moveTo>
                  <a:pt x="0" y="0"/>
                </a:moveTo>
                <a:lnTo>
                  <a:pt x="1133475" y="0"/>
                </a:lnTo>
                <a:lnTo>
                  <a:pt x="1133475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2394" t="0" r="-2394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876800" y="9686925"/>
            <a:ext cx="1876425" cy="1838325"/>
          </a:xfrm>
          <a:custGeom>
            <a:avLst/>
            <a:gdLst/>
            <a:ahLst/>
            <a:cxnLst/>
            <a:rect r="r" b="b" t="t" l="l"/>
            <a:pathLst>
              <a:path h="1838325" w="1876425">
                <a:moveTo>
                  <a:pt x="0" y="0"/>
                </a:moveTo>
                <a:lnTo>
                  <a:pt x="1876425" y="0"/>
                </a:lnTo>
                <a:lnTo>
                  <a:pt x="1876425" y="1838325"/>
                </a:lnTo>
                <a:lnTo>
                  <a:pt x="0" y="1838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057775" y="9686925"/>
            <a:ext cx="1514475" cy="561975"/>
          </a:xfrm>
          <a:custGeom>
            <a:avLst/>
            <a:gdLst/>
            <a:ahLst/>
            <a:cxnLst/>
            <a:rect r="r" b="b" t="t" l="l"/>
            <a:pathLst>
              <a:path h="561975" w="1514475">
                <a:moveTo>
                  <a:pt x="0" y="0"/>
                </a:moveTo>
                <a:lnTo>
                  <a:pt x="1514475" y="0"/>
                </a:lnTo>
                <a:lnTo>
                  <a:pt x="151447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286375" y="10258425"/>
            <a:ext cx="1133475" cy="1104900"/>
          </a:xfrm>
          <a:custGeom>
            <a:avLst/>
            <a:gdLst/>
            <a:ahLst/>
            <a:cxnLst/>
            <a:rect r="r" b="b" t="t" l="l"/>
            <a:pathLst>
              <a:path h="1104900" w="1133475">
                <a:moveTo>
                  <a:pt x="0" y="0"/>
                </a:moveTo>
                <a:lnTo>
                  <a:pt x="1133475" y="0"/>
                </a:lnTo>
                <a:lnTo>
                  <a:pt x="1133475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786" t="0" r="-786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743700" y="9686925"/>
            <a:ext cx="2828925" cy="1838325"/>
          </a:xfrm>
          <a:custGeom>
            <a:avLst/>
            <a:gdLst/>
            <a:ahLst/>
            <a:cxnLst/>
            <a:rect r="r" b="b" t="t" l="l"/>
            <a:pathLst>
              <a:path h="1838325" w="2828925">
                <a:moveTo>
                  <a:pt x="0" y="0"/>
                </a:moveTo>
                <a:lnTo>
                  <a:pt x="2828925" y="0"/>
                </a:lnTo>
                <a:lnTo>
                  <a:pt x="2828925" y="1838325"/>
                </a:lnTo>
                <a:lnTo>
                  <a:pt x="0" y="18383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934200" y="9867900"/>
            <a:ext cx="762000" cy="561975"/>
          </a:xfrm>
          <a:custGeom>
            <a:avLst/>
            <a:gdLst/>
            <a:ahLst/>
            <a:cxnLst/>
            <a:rect r="r" b="b" t="t" l="l"/>
            <a:pathLst>
              <a:path h="561975" w="762000">
                <a:moveTo>
                  <a:pt x="0" y="0"/>
                </a:moveTo>
                <a:lnTo>
                  <a:pt x="762000" y="0"/>
                </a:lnTo>
                <a:lnTo>
                  <a:pt x="76200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043738" y="10651881"/>
            <a:ext cx="2200275" cy="488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689"/>
              </a:lnSpc>
            </a:pPr>
            <a:r>
              <a:rPr lang="ar-EG" b="true" sz="1299">
                <a:solidFill>
                  <a:srgbClr val="1F437F"/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  <a:rtl val="true"/>
              </a:rPr>
              <a:t>طلاب المرحلة الابتدائية( العليا ) والمتوسطة والثانوية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0" y="11515725"/>
            <a:ext cx="2257425" cy="1476375"/>
          </a:xfrm>
          <a:custGeom>
            <a:avLst/>
            <a:gdLst/>
            <a:ahLst/>
            <a:cxnLst/>
            <a:rect r="r" b="b" t="t" l="l"/>
            <a:pathLst>
              <a:path h="1476375" w="2257425">
                <a:moveTo>
                  <a:pt x="0" y="0"/>
                </a:moveTo>
                <a:lnTo>
                  <a:pt x="2257425" y="0"/>
                </a:lnTo>
                <a:lnTo>
                  <a:pt x="2257425" y="1476375"/>
                </a:lnTo>
                <a:lnTo>
                  <a:pt x="0" y="14763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0" y="12801600"/>
            <a:ext cx="9753600" cy="1828800"/>
          </a:xfrm>
          <a:custGeom>
            <a:avLst/>
            <a:gdLst/>
            <a:ahLst/>
            <a:cxnLst/>
            <a:rect r="r" b="b" t="t" l="l"/>
            <a:pathLst>
              <a:path h="1828800" w="9753600">
                <a:moveTo>
                  <a:pt x="0" y="0"/>
                </a:moveTo>
                <a:lnTo>
                  <a:pt x="9753600" y="0"/>
                </a:lnTo>
                <a:lnTo>
                  <a:pt x="97536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0" y="13525500"/>
            <a:ext cx="3381375" cy="1104900"/>
          </a:xfrm>
          <a:custGeom>
            <a:avLst/>
            <a:gdLst/>
            <a:ahLst/>
            <a:cxnLst/>
            <a:rect r="r" b="b" t="t" l="l"/>
            <a:pathLst>
              <a:path h="1104900" w="3381375">
                <a:moveTo>
                  <a:pt x="0" y="0"/>
                </a:moveTo>
                <a:lnTo>
                  <a:pt x="3381375" y="0"/>
                </a:lnTo>
                <a:lnTo>
                  <a:pt x="3381375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181350" y="11515725"/>
            <a:ext cx="390525" cy="371475"/>
          </a:xfrm>
          <a:custGeom>
            <a:avLst/>
            <a:gdLst/>
            <a:ahLst/>
            <a:cxnLst/>
            <a:rect r="r" b="b" t="t" l="l"/>
            <a:pathLst>
              <a:path h="371475" w="390525">
                <a:moveTo>
                  <a:pt x="0" y="0"/>
                </a:moveTo>
                <a:lnTo>
                  <a:pt x="390525" y="0"/>
                </a:lnTo>
                <a:lnTo>
                  <a:pt x="39052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314700" y="11633642"/>
            <a:ext cx="3128962" cy="46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895"/>
              </a:lnSpc>
            </a:pPr>
            <a:r>
              <a:rPr lang="ar-EG" b="true" sz="2227">
                <a:solidFill>
                  <a:srgbClr val="1F437F"/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  <a:rtl val="true"/>
              </a:rPr>
              <a:t>البيانات .. تصنع الفرق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6181725" y="11515725"/>
            <a:ext cx="390525" cy="371475"/>
          </a:xfrm>
          <a:custGeom>
            <a:avLst/>
            <a:gdLst/>
            <a:ahLst/>
            <a:cxnLst/>
            <a:rect r="r" b="b" t="t" l="l"/>
            <a:pathLst>
              <a:path h="371475" w="390525">
                <a:moveTo>
                  <a:pt x="0" y="0"/>
                </a:moveTo>
                <a:lnTo>
                  <a:pt x="390525" y="0"/>
                </a:lnTo>
                <a:lnTo>
                  <a:pt x="39052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743325" y="12249150"/>
            <a:ext cx="952500" cy="190500"/>
          </a:xfrm>
          <a:custGeom>
            <a:avLst/>
            <a:gdLst/>
            <a:ahLst/>
            <a:cxnLst/>
            <a:rect r="r" b="b" t="t" l="l"/>
            <a:pathLst>
              <a:path h="190500" w="952500">
                <a:moveTo>
                  <a:pt x="0" y="0"/>
                </a:moveTo>
                <a:lnTo>
                  <a:pt x="952500" y="0"/>
                </a:lnTo>
                <a:lnTo>
                  <a:pt x="952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495800" y="12249150"/>
            <a:ext cx="762000" cy="190500"/>
          </a:xfrm>
          <a:custGeom>
            <a:avLst/>
            <a:gdLst/>
            <a:ahLst/>
            <a:cxnLst/>
            <a:rect r="r" b="b" t="t" l="l"/>
            <a:pathLst>
              <a:path h="190500" w="762000">
                <a:moveTo>
                  <a:pt x="0" y="0"/>
                </a:moveTo>
                <a:lnTo>
                  <a:pt x="762000" y="0"/>
                </a:lnTo>
                <a:lnTo>
                  <a:pt x="7620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057775" y="12249150"/>
            <a:ext cx="952500" cy="190500"/>
          </a:xfrm>
          <a:custGeom>
            <a:avLst/>
            <a:gdLst/>
            <a:ahLst/>
            <a:cxnLst/>
            <a:rect r="r" b="b" t="t" l="l"/>
            <a:pathLst>
              <a:path h="190500" w="952500">
                <a:moveTo>
                  <a:pt x="0" y="0"/>
                </a:moveTo>
                <a:lnTo>
                  <a:pt x="952500" y="0"/>
                </a:lnTo>
                <a:lnTo>
                  <a:pt x="952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80975" y="12430125"/>
            <a:ext cx="3390900" cy="1285875"/>
          </a:xfrm>
          <a:custGeom>
            <a:avLst/>
            <a:gdLst/>
            <a:ahLst/>
            <a:cxnLst/>
            <a:rect r="r" b="b" t="t" l="l"/>
            <a:pathLst>
              <a:path h="1285875" w="3390900">
                <a:moveTo>
                  <a:pt x="0" y="0"/>
                </a:moveTo>
                <a:lnTo>
                  <a:pt x="3390900" y="0"/>
                </a:lnTo>
                <a:lnTo>
                  <a:pt x="33909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3371850" y="12430125"/>
            <a:ext cx="3200400" cy="1285875"/>
          </a:xfrm>
          <a:custGeom>
            <a:avLst/>
            <a:gdLst/>
            <a:ahLst/>
            <a:cxnLst/>
            <a:rect r="r" b="b" t="t" l="l"/>
            <a:pathLst>
              <a:path h="1285875" w="3200400">
                <a:moveTo>
                  <a:pt x="0" y="0"/>
                </a:moveTo>
                <a:lnTo>
                  <a:pt x="3200400" y="0"/>
                </a:lnTo>
                <a:lnTo>
                  <a:pt x="32004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6372225" y="12430125"/>
            <a:ext cx="3200400" cy="1285875"/>
          </a:xfrm>
          <a:custGeom>
            <a:avLst/>
            <a:gdLst/>
            <a:ahLst/>
            <a:cxnLst/>
            <a:rect r="r" b="b" t="t" l="l"/>
            <a:pathLst>
              <a:path h="1285875" w="3200400">
                <a:moveTo>
                  <a:pt x="0" y="0"/>
                </a:moveTo>
                <a:lnTo>
                  <a:pt x="3200400" y="0"/>
                </a:lnTo>
                <a:lnTo>
                  <a:pt x="32004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686675" y="14077950"/>
            <a:ext cx="381000" cy="371475"/>
          </a:xfrm>
          <a:custGeom>
            <a:avLst/>
            <a:gdLst/>
            <a:ahLst/>
            <a:cxnLst/>
            <a:rect r="r" b="b" t="t" l="l"/>
            <a:pathLst>
              <a:path h="371475" w="381000">
                <a:moveTo>
                  <a:pt x="0" y="0"/>
                </a:moveTo>
                <a:lnTo>
                  <a:pt x="381000" y="0"/>
                </a:lnTo>
                <a:lnTo>
                  <a:pt x="38100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7877175" y="14077950"/>
            <a:ext cx="381000" cy="371475"/>
          </a:xfrm>
          <a:custGeom>
            <a:avLst/>
            <a:gdLst/>
            <a:ahLst/>
            <a:cxnLst/>
            <a:rect r="r" b="b" t="t" l="l"/>
            <a:pathLst>
              <a:path h="371475" w="381000">
                <a:moveTo>
                  <a:pt x="0" y="0"/>
                </a:moveTo>
                <a:lnTo>
                  <a:pt x="381000" y="0"/>
                </a:lnTo>
                <a:lnTo>
                  <a:pt x="38100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8248650" y="14077950"/>
            <a:ext cx="381000" cy="371475"/>
          </a:xfrm>
          <a:custGeom>
            <a:avLst/>
            <a:gdLst/>
            <a:ahLst/>
            <a:cxnLst/>
            <a:rect r="r" b="b" t="t" l="l"/>
            <a:pathLst>
              <a:path h="371475" w="381000">
                <a:moveTo>
                  <a:pt x="0" y="0"/>
                </a:moveTo>
                <a:lnTo>
                  <a:pt x="381000" y="0"/>
                </a:lnTo>
                <a:lnTo>
                  <a:pt x="38100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5057775" y="1638300"/>
            <a:ext cx="4324350" cy="814733"/>
          </a:xfrm>
          <a:custGeom>
            <a:avLst/>
            <a:gdLst/>
            <a:ahLst/>
            <a:cxnLst/>
            <a:rect r="r" b="b" t="t" l="l"/>
            <a:pathLst>
              <a:path h="814733" w="4324350">
                <a:moveTo>
                  <a:pt x="0" y="0"/>
                </a:moveTo>
                <a:lnTo>
                  <a:pt x="4324350" y="0"/>
                </a:lnTo>
                <a:lnTo>
                  <a:pt x="4324350" y="814733"/>
                </a:lnTo>
                <a:lnTo>
                  <a:pt x="0" y="814733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5948362" y="2568054"/>
            <a:ext cx="2924175" cy="727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539"/>
              </a:lnSpc>
            </a:pPr>
            <a:r>
              <a:rPr lang="ar-EG" b="true" sz="1953">
                <a:solidFill>
                  <a:srgbClr val="093C77"/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  <a:rtl val="true"/>
              </a:rPr>
              <a:t>دعوة طلاب ……….. للمشاركة في 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5057775" y="3105150"/>
            <a:ext cx="1885950" cy="2752725"/>
          </a:xfrm>
          <a:custGeom>
            <a:avLst/>
            <a:gdLst/>
            <a:ahLst/>
            <a:cxnLst/>
            <a:rect r="r" b="b" t="t" l="l"/>
            <a:pathLst>
              <a:path h="2752725" w="1885950">
                <a:moveTo>
                  <a:pt x="0" y="0"/>
                </a:moveTo>
                <a:lnTo>
                  <a:pt x="1885950" y="0"/>
                </a:lnTo>
                <a:lnTo>
                  <a:pt x="1885950" y="2752725"/>
                </a:lnTo>
                <a:lnTo>
                  <a:pt x="0" y="2752725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372225" y="3467100"/>
            <a:ext cx="3381375" cy="2390775"/>
          </a:xfrm>
          <a:custGeom>
            <a:avLst/>
            <a:gdLst/>
            <a:ahLst/>
            <a:cxnLst/>
            <a:rect r="r" b="b" t="t" l="l"/>
            <a:pathLst>
              <a:path h="2390775" w="3381375">
                <a:moveTo>
                  <a:pt x="0" y="0"/>
                </a:moveTo>
                <a:lnTo>
                  <a:pt x="3381375" y="0"/>
                </a:lnTo>
                <a:lnTo>
                  <a:pt x="3381375" y="2390775"/>
                </a:lnTo>
                <a:lnTo>
                  <a:pt x="0" y="2390775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6886575" y="3356663"/>
            <a:ext cx="2271712" cy="80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814"/>
              </a:lnSpc>
            </a:pPr>
            <a:r>
              <a:rPr lang="ar-EG" b="true" sz="3703">
                <a:solidFill>
                  <a:srgbClr val="093C77"/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  <a:rtl val="true"/>
              </a:rPr>
              <a:t>بــرنــامج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5248275" y="5848350"/>
            <a:ext cx="4324350" cy="742950"/>
          </a:xfrm>
          <a:custGeom>
            <a:avLst/>
            <a:gdLst/>
            <a:ahLst/>
            <a:cxnLst/>
            <a:rect r="r" b="b" t="t" l="l"/>
            <a:pathLst>
              <a:path h="742950" w="4324350">
                <a:moveTo>
                  <a:pt x="0" y="0"/>
                </a:moveTo>
                <a:lnTo>
                  <a:pt x="4324350" y="0"/>
                </a:lnTo>
                <a:lnTo>
                  <a:pt x="432435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8620125" y="2924175"/>
            <a:ext cx="1133475" cy="733425"/>
          </a:xfrm>
          <a:custGeom>
            <a:avLst/>
            <a:gdLst/>
            <a:ahLst/>
            <a:cxnLst/>
            <a:rect r="r" b="b" t="t" l="l"/>
            <a:pathLst>
              <a:path h="733425" w="1133475">
                <a:moveTo>
                  <a:pt x="0" y="0"/>
                </a:moveTo>
                <a:lnTo>
                  <a:pt x="1133475" y="0"/>
                </a:lnTo>
                <a:lnTo>
                  <a:pt x="113347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8058150" y="10972800"/>
            <a:ext cx="1695450" cy="2019300"/>
          </a:xfrm>
          <a:custGeom>
            <a:avLst/>
            <a:gdLst/>
            <a:ahLst/>
            <a:cxnLst/>
            <a:rect r="r" b="b" t="t" l="l"/>
            <a:pathLst>
              <a:path h="2019300" w="1695450">
                <a:moveTo>
                  <a:pt x="0" y="0"/>
                </a:moveTo>
                <a:lnTo>
                  <a:pt x="1695450" y="0"/>
                </a:lnTo>
                <a:lnTo>
                  <a:pt x="1695450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3933825" y="0"/>
            <a:ext cx="3952875" cy="1285875"/>
          </a:xfrm>
          <a:custGeom>
            <a:avLst/>
            <a:gdLst/>
            <a:ahLst/>
            <a:cxnLst/>
            <a:rect r="r" b="b" t="t" l="l"/>
            <a:pathLst>
              <a:path h="1285875" w="3952875">
                <a:moveTo>
                  <a:pt x="0" y="0"/>
                </a:moveTo>
                <a:lnTo>
                  <a:pt x="3952875" y="0"/>
                </a:lnTo>
                <a:lnTo>
                  <a:pt x="39528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353242" y="337888"/>
            <a:ext cx="3038613" cy="790039"/>
          </a:xfrm>
          <a:custGeom>
            <a:avLst/>
            <a:gdLst/>
            <a:ahLst/>
            <a:cxnLst/>
            <a:rect r="r" b="b" t="t" l="l"/>
            <a:pathLst>
              <a:path h="790039" w="3038613">
                <a:moveTo>
                  <a:pt x="0" y="0"/>
                </a:moveTo>
                <a:lnTo>
                  <a:pt x="3038612" y="0"/>
                </a:lnTo>
                <a:lnTo>
                  <a:pt x="3038612" y="790040"/>
                </a:lnTo>
                <a:lnTo>
                  <a:pt x="0" y="790040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7825360" y="230296"/>
            <a:ext cx="1589529" cy="1055579"/>
          </a:xfrm>
          <a:custGeom>
            <a:avLst/>
            <a:gdLst/>
            <a:ahLst/>
            <a:cxnLst/>
            <a:rect r="r" b="b" t="t" l="l"/>
            <a:pathLst>
              <a:path h="1055579" w="1589529">
                <a:moveTo>
                  <a:pt x="0" y="0"/>
                </a:moveTo>
                <a:lnTo>
                  <a:pt x="1589530" y="0"/>
                </a:lnTo>
                <a:lnTo>
                  <a:pt x="1589530" y="1055579"/>
                </a:lnTo>
                <a:lnTo>
                  <a:pt x="0" y="1055579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134076">
            <a:off x="212337" y="1897068"/>
            <a:ext cx="1857375" cy="164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093"/>
              </a:lnSpc>
            </a:pPr>
            <a:r>
              <a:rPr lang="ar-EG" sz="1995">
                <a:solidFill>
                  <a:srgbClr val="FFFFFF"/>
                </a:solidFill>
                <a:latin typeface="Helvetica Neue W23 for SKY"/>
                <a:ea typeface="Helvetica Neue W23 for SKY"/>
                <a:cs typeface="Helvetica Neue W23 for SKY"/>
                <a:sym typeface="Helvetica Neue W23 for SKY"/>
                <a:rtl val="true"/>
              </a:rPr>
              <a:t>بالأرقام</a:t>
            </a:r>
          </a:p>
          <a:p>
            <a:pPr algn="r" rtl="true">
              <a:lnSpc>
                <a:spcPts val="3093"/>
              </a:lnSpc>
            </a:pPr>
            <a:r>
              <a:rPr lang="ar-EG" sz="1995">
                <a:solidFill>
                  <a:srgbClr val="FFFFFF"/>
                </a:solidFill>
                <a:latin typeface="Helvetica Neue W23 for SKY"/>
                <a:ea typeface="Helvetica Neue W23 for SKY"/>
                <a:cs typeface="Helvetica Neue W23 for SKY"/>
                <a:sym typeface="Helvetica Neue W23 for SKY"/>
                <a:rtl val="true"/>
              </a:rPr>
              <a:t>نصنع قرارات أفضل لمستقبل أجمل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71512" y="8456524"/>
            <a:ext cx="1585912" cy="866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125"/>
              </a:lnSpc>
            </a:pPr>
            <a:r>
              <a:rPr lang="ar-EG" sz="1635">
                <a:solidFill>
                  <a:srgbClr val="1F437F"/>
                </a:solidFill>
                <a:latin typeface="Helvetica Neue W23 for SKY"/>
                <a:ea typeface="Helvetica Neue W23 for SKY"/>
                <a:cs typeface="Helvetica Neue W23 for SKY"/>
                <a:sym typeface="Helvetica Neue W23 for SKY"/>
                <a:rtl val="true"/>
              </a:rPr>
              <a:t>تنمية الوعي المجتمعي بأهمية البيانات والإحصاء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43225" y="8423147"/>
            <a:ext cx="1585912" cy="899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232"/>
              </a:lnSpc>
            </a:pPr>
            <a:r>
              <a:rPr lang="ar-EG" sz="1717">
                <a:solidFill>
                  <a:srgbClr val="1F437F"/>
                </a:solidFill>
                <a:latin typeface="Helvetica Neue W23 for SKY"/>
                <a:ea typeface="Helvetica Neue W23 for SKY"/>
                <a:cs typeface="Helvetica Neue W23 for SKY"/>
                <a:sym typeface="Helvetica Neue W23 for SKY"/>
                <a:rtl val="true"/>
              </a:rPr>
              <a:t>تعزيز مهارات البحث والتحليل والتفكير الإحصائي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157788" y="8466775"/>
            <a:ext cx="1743075" cy="9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881"/>
              </a:lnSpc>
            </a:pPr>
            <a:r>
              <a:rPr lang="ar-EG" sz="1447">
                <a:solidFill>
                  <a:srgbClr val="1F437F"/>
                </a:solidFill>
                <a:latin typeface="Helvetica Neue W23 for SKY"/>
                <a:ea typeface="Helvetica Neue W23 for SKY"/>
                <a:cs typeface="Helvetica Neue W23 for SKY"/>
                <a:sym typeface="Helvetica Neue W23 for SKY"/>
                <a:rtl val="true"/>
              </a:rPr>
              <a:t>تمكين الأجيال القادمة من الوصول إلى المعلومات</a:t>
            </a:r>
          </a:p>
          <a:p>
            <a:pPr algn="ctr" rtl="true">
              <a:lnSpc>
                <a:spcPts val="1881"/>
              </a:lnSpc>
            </a:pPr>
            <a:r>
              <a:rPr lang="ar-EG" sz="1447">
                <a:solidFill>
                  <a:srgbClr val="1F437F"/>
                </a:solidFill>
                <a:latin typeface="Helvetica Neue W23 for SKY"/>
                <a:ea typeface="Helvetica Neue W23 for SKY"/>
                <a:cs typeface="Helvetica Neue W23 for SKY"/>
                <a:sym typeface="Helvetica Neue W23 for SKY"/>
                <a:rtl val="true"/>
              </a:rPr>
              <a:t>من مصادرها الموثوقة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572375" y="8534176"/>
            <a:ext cx="1585912" cy="61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188"/>
              </a:lnSpc>
            </a:pPr>
            <a:r>
              <a:rPr lang="ar-EG" sz="1683">
                <a:solidFill>
                  <a:srgbClr val="1F437F"/>
                </a:solidFill>
                <a:latin typeface="Helvetica Neue W23 for SKY"/>
                <a:ea typeface="Helvetica Neue W23 for SKY"/>
                <a:cs typeface="Helvetica Neue W23 for SKY"/>
                <a:sym typeface="Helvetica Neue W23 for SKY"/>
                <a:rtl val="true"/>
              </a:rPr>
              <a:t>رفع كفاءة الخدمات الإحصائية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71575" y="10034442"/>
            <a:ext cx="1528762" cy="91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2204"/>
              </a:lnSpc>
            </a:pPr>
            <a:r>
              <a:rPr lang="ar-EG" b="true" sz="1696">
                <a:solidFill>
                  <a:srgbClr val="009482"/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  <a:rtl val="true"/>
              </a:rPr>
              <a:t>تبدأ المشاركة </a:t>
            </a:r>
          </a:p>
          <a:p>
            <a:pPr algn="just" rtl="true">
              <a:lnSpc>
                <a:spcPts val="2204"/>
              </a:lnSpc>
            </a:pPr>
            <a:r>
              <a:rPr lang="ar-EG" b="true" sz="1696">
                <a:solidFill>
                  <a:srgbClr val="009482"/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  <a:rtl val="true"/>
              </a:rPr>
              <a:t>من يوم الأحد</a:t>
            </a:r>
          </a:p>
          <a:p>
            <a:pPr algn="just" rtl="true">
              <a:lnSpc>
                <a:spcPts val="2205"/>
              </a:lnSpc>
            </a:pPr>
            <a:r>
              <a:rPr lang="en-US" b="true" sz="1696">
                <a:solidFill>
                  <a:srgbClr val="009482"/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</a:rPr>
              <a:t>11</a:t>
            </a:r>
            <a:r>
              <a:rPr lang="ar-EG" b="true" sz="1696">
                <a:solidFill>
                  <a:srgbClr val="009482"/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  <a:rtl val="true"/>
              </a:rPr>
              <a:t> اكتوبر </a:t>
            </a:r>
            <a:r>
              <a:rPr lang="en-US" b="true" sz="1696">
                <a:solidFill>
                  <a:srgbClr val="009482"/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</a:rPr>
              <a:t>2026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715250" y="10051914"/>
            <a:ext cx="1528762" cy="295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881"/>
              </a:lnSpc>
            </a:pPr>
            <a:r>
              <a:rPr lang="ar-EG" sz="1447">
                <a:solidFill>
                  <a:srgbClr val="009482"/>
                </a:solidFill>
                <a:latin typeface="Helvetica Neue W23 for SKY"/>
                <a:ea typeface="Helvetica Neue W23 for SKY"/>
                <a:cs typeface="Helvetica Neue W23 for SKY"/>
                <a:sym typeface="Helvetica Neue W23 for SKY"/>
                <a:rtl val="true"/>
              </a:rPr>
              <a:t>الفئات المستهدفة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671888" y="14017131"/>
            <a:ext cx="241458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079"/>
              </a:lnSpc>
            </a:pPr>
            <a:r>
              <a:rPr lang="ar-EG" b="true" sz="1599">
                <a:solidFill>
                  <a:srgbClr val="FFFFFF">
                    <a:alpha val="60000"/>
                  </a:srgbClr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  <a:rtl val="true"/>
              </a:rPr>
              <a:t>بيانات أفضل .. لمجتمع حيوي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377413" y="1708644"/>
            <a:ext cx="3766587" cy="49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028"/>
              </a:lnSpc>
            </a:pPr>
            <a:r>
              <a:rPr lang="ar-EG" b="true" sz="2329">
                <a:solidFill>
                  <a:srgbClr val="093C77"/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  <a:rtl val="true"/>
              </a:rPr>
              <a:t>يسر مدرسة ….. 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443662" y="4016460"/>
            <a:ext cx="2943225" cy="161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391"/>
              </a:lnSpc>
            </a:pPr>
            <a:r>
              <a:rPr lang="ar-EG" sz="4771" b="true">
                <a:solidFill>
                  <a:srgbClr val="009482"/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  <a:rtl val="true"/>
              </a:rPr>
              <a:t>المـعرفة الإحصائية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443538" y="5986022"/>
            <a:ext cx="3771900" cy="44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918"/>
              </a:lnSpc>
            </a:pPr>
            <a:r>
              <a:rPr lang="ar-EG" sz="1883" b="true">
                <a:solidFill>
                  <a:srgbClr val="FFFFFF"/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  <a:rtl val="true"/>
              </a:rPr>
              <a:t>مسابقتك نحــو مستقبل أكثر إشراقاً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286375" y="6728457"/>
            <a:ext cx="4100512" cy="81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67"/>
              </a:lnSpc>
            </a:pPr>
            <a:r>
              <a:rPr lang="ar-EG" sz="1405">
                <a:solidFill>
                  <a:srgbClr val="1F437F"/>
                </a:solidFill>
                <a:latin typeface="Helvetica Neue W23 for SKY"/>
                <a:ea typeface="Helvetica Neue W23 for SKY"/>
                <a:cs typeface="Helvetica Neue W23 for SKY"/>
                <a:sym typeface="Helvetica Neue W23 for SKY"/>
                <a:rtl val="true"/>
              </a:rPr>
              <a:t>تنظمها الهيئة العامة للإحصاء بالشراكة مع وزارة التعليم ضمن مسابقات مجال المواطنة والحياة.</a:t>
            </a:r>
          </a:p>
          <a:p>
            <a:pPr algn="ctr" rtl="true">
              <a:lnSpc>
                <a:spcPts val="1967"/>
              </a:lnSpc>
            </a:pPr>
            <a:r>
              <a:rPr lang="ar-EG" sz="1405">
                <a:solidFill>
                  <a:srgbClr val="1F437F"/>
                </a:solidFill>
                <a:latin typeface="Helvetica Neue W23 for SKY"/>
                <a:ea typeface="Helvetica Neue W23 for SKY"/>
                <a:cs typeface="Helvetica Neue W23 for SKY"/>
                <a:sym typeface="Helvetica Neue W23 for SKY"/>
                <a:rtl val="true"/>
              </a:rPr>
              <a:t>بهدف تعزيز الثقافة الإحصائية لدى الطلبة.</a:t>
            </a:r>
          </a:p>
        </p:txBody>
      </p:sp>
      <p:sp>
        <p:nvSpPr>
          <p:cNvPr name="TextBox 62" id="62"/>
          <p:cNvSpPr txBox="true"/>
          <p:nvPr/>
        </p:nvSpPr>
        <p:spPr>
          <a:xfrm rot="-474609">
            <a:off x="963843" y="6157777"/>
            <a:ext cx="1528762" cy="35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205"/>
              </a:lnSpc>
            </a:pPr>
            <a:r>
              <a:rPr lang="ar-EG" sz="1696">
                <a:solidFill>
                  <a:srgbClr val="FFFFFF">
                    <a:alpha val="60000"/>
                  </a:srgbClr>
                </a:solidFill>
                <a:latin typeface="Helvetica Neue W23 for SKY"/>
                <a:ea typeface="Helvetica Neue W23 for SKY"/>
                <a:cs typeface="Helvetica Neue W23 for SKY"/>
                <a:sym typeface="Helvetica Neue W23 for SKY"/>
                <a:rtl val="true"/>
              </a:rPr>
              <a:t>مستقبل أفضل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61975" y="12786331"/>
            <a:ext cx="2574131" cy="30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812"/>
              </a:lnSpc>
            </a:pPr>
            <a:r>
              <a:rPr lang="ar-EG" sz="1394" b="true">
                <a:solidFill>
                  <a:srgbClr val="1F437F">
                    <a:alpha val="60000"/>
                  </a:srgbClr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  <a:rtl val="true"/>
              </a:rPr>
              <a:t>معاً نحو جيل واعٍ بإحصاء المستقبل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157787" y="9801963"/>
            <a:ext cx="1248397" cy="30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1801"/>
              </a:lnSpc>
            </a:pPr>
            <a:r>
              <a:rPr lang="ar-EG" b="true" sz="1385">
                <a:solidFill>
                  <a:srgbClr val="FFFFFF"/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  <a:rtl val="true"/>
              </a:rPr>
              <a:t>دليل المسابقة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266453" y="9802770"/>
            <a:ext cx="1248397" cy="30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1801"/>
              </a:lnSpc>
            </a:pPr>
            <a:r>
              <a:rPr lang="ar-EG" b="true" sz="1385">
                <a:solidFill>
                  <a:srgbClr val="FFFFFF"/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  <a:rtl val="true"/>
              </a:rPr>
              <a:t>رابط المشاركة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958012" y="12599606"/>
            <a:ext cx="2200275" cy="6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547"/>
              </a:lnSpc>
            </a:pPr>
            <a:r>
              <a:rPr lang="ar-EG" b="true" sz="1299">
                <a:solidFill>
                  <a:srgbClr val="1F437F"/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  <a:rtl val="true"/>
              </a:rPr>
              <a:t>رائد/ة النشاط : </a:t>
            </a:r>
          </a:p>
          <a:p>
            <a:pPr algn="ctr" rtl="true">
              <a:lnSpc>
                <a:spcPts val="2547"/>
              </a:lnSpc>
            </a:pPr>
            <a:r>
              <a:rPr lang="ar-EG" sz="1299">
                <a:solidFill>
                  <a:srgbClr val="1F437F"/>
                </a:solidFill>
                <a:latin typeface="Helvetica Neue W23 for SKY"/>
                <a:ea typeface="Helvetica Neue W23 for SKY"/>
                <a:cs typeface="Helvetica Neue W23 for SKY"/>
                <a:sym typeface="Helvetica Neue W23 for SKY"/>
                <a:rtl val="true"/>
              </a:rPr>
              <a:t>…………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871912" y="12599606"/>
            <a:ext cx="2200275" cy="6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547"/>
              </a:lnSpc>
            </a:pPr>
            <a:r>
              <a:rPr lang="ar-EG" b="true" sz="1299">
                <a:solidFill>
                  <a:srgbClr val="1F437F"/>
                </a:solidFill>
                <a:latin typeface="Helvetica Neue W23 for SKY Bold"/>
                <a:ea typeface="Helvetica Neue W23 for SKY Bold"/>
                <a:cs typeface="Helvetica Neue W23 for SKY Bold"/>
                <a:sym typeface="Helvetica Neue W23 for SKY Bold"/>
                <a:rtl val="true"/>
              </a:rPr>
              <a:t>مدير المدرسة :</a:t>
            </a:r>
          </a:p>
          <a:p>
            <a:pPr algn="ctr">
              <a:lnSpc>
                <a:spcPts val="2547"/>
              </a:lnSpc>
            </a:pPr>
            <a:r>
              <a:rPr lang="en-US" sz="1299">
                <a:solidFill>
                  <a:srgbClr val="1F437F"/>
                </a:solidFill>
                <a:latin typeface="Helvetica Neue W23 for SKY"/>
                <a:ea typeface="Helvetica Neue W23 for SKY"/>
                <a:cs typeface="Helvetica Neue W23 for SKY"/>
                <a:sym typeface="Helvetica Neue W23 for SKY"/>
              </a:rPr>
              <a:t>………….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DAHX2g6S7SY</dc:identifier>
  <dcterms:modified xsi:type="dcterms:W3CDTF">2011-08-01T06:04:30Z</dcterms:modified>
  <cp:revision>1</cp:revision>
  <dc:title>إعلان مسابقة المعرفة الاحصائية</dc:title>
</cp:coreProperties>
</file>